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ommentAuthors.xml" ContentType="application/vnd.openxmlformats-officedocument.presentationml.commentAuthor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16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9" r:id="rId33"/>
    <p:sldId id="280" r:id="rId3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3" autoAdjust="0"/>
    <p:restoredTop sz="91480" autoAdjust="0"/>
  </p:normalViewPr>
  <p:slideViewPr>
    <p:cSldViewPr snapToGrid="0">
      <p:cViewPr varScale="1">
        <p:scale>
          <a:sx n="71" d="100"/>
          <a:sy n="71" d="100"/>
        </p:scale>
        <p:origin x="43" y="202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notesMaster" Target="notesMasters/notesMaster1.xml"/><Relationship Id="rId26" Type="http://schemas.openxmlformats.org/officeDocument/2006/relationships/tags" Target="tags/tag1.xml"/><Relationship Id="rId27" Type="http://schemas.openxmlformats.org/officeDocument/2006/relationships/commentAuthors" Target="commentAuthor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8/10/relationships/authors" Target="authors.xml"/><Relationship Id="rId33" Type="http://schemas.openxmlformats.org/officeDocument/2006/relationships/slide" Target="slides/slide21.xml"/><Relationship Id="rId34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44546A"/>
                </a:solidFill>
              </a:rPr>
              <a:t>Number of Job Postings by Location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Job postings</c:v>
                </c:pt>
              </c:strCache>
            </c:strRef>
          </c:tx>
          <c:spPr>
            <a:solidFill>
              <a:srgbClr val="E8792B"/>
            </a:solidFill>
          </c:spPr>
          <c:cat>
            <c:strRef>
              <c:f>Sheet1!$A$2:$A$8</c:f>
              <c:strCache>
                <c:ptCount val="7"/>
                <c:pt idx="0">
                  <c:v>Austin</c:v>
                </c:pt>
                <c:pt idx="1">
                  <c:v>San Francisco</c:v>
                </c:pt>
                <c:pt idx="2">
                  <c:v>Los Angeles</c:v>
                </c:pt>
                <c:pt idx="3">
                  <c:v>New York</c:v>
                </c:pt>
                <c:pt idx="4">
                  <c:v>Seattle</c:v>
                </c:pt>
                <c:pt idx="5">
                  <c:v>Detroit</c:v>
                </c:pt>
                <c:pt idx="6">
                  <c:v>Washington DC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434</c:v>
                </c:pt>
                <c:pt idx="1">
                  <c:v>435</c:v>
                </c:pt>
                <c:pt idx="2">
                  <c:v>640</c:v>
                </c:pt>
                <c:pt idx="3">
                  <c:v>3226</c:v>
                </c:pt>
                <c:pt idx="4">
                  <c:v>3375</c:v>
                </c:pt>
                <c:pt idx="5">
                  <c:v>3945</c:v>
                </c:pt>
                <c:pt idx="6">
                  <c:v>5316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44546A"/>
                </a:solidFill>
              </a:rPr>
              <a:t>Average Annual Salary by Programming Language (US$)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Salary</c:v>
                </c:pt>
              </c:strCache>
            </c:strRef>
          </c:tx>
          <c:spPr>
            <a:solidFill>
              <a:srgbClr val="E8792B"/>
            </a:solidFill>
          </c:spPr>
          <c:cat>
            <c:strRef>
              <c:f>Sheet1!$A$2:$A$11</c:f>
              <c:strCache>
                <c:ptCount val="10"/>
                <c:pt idx="0">
                  <c:v>PHP</c:v>
                </c:pt>
                <c:pt idx="1">
                  <c:v>SQL</c:v>
                </c:pt>
                <c:pt idx="2">
                  <c:v>C#</c:v>
                </c:pt>
                <c:pt idx="3">
                  <c:v>R</c:v>
                </c:pt>
                <c:pt idx="4">
                  <c:v>Go</c:v>
                </c:pt>
                <c:pt idx="5">
                  <c:v>Java</c:v>
                </c:pt>
                <c:pt idx="6">
                  <c:v>JavaScript</c:v>
                </c:pt>
                <c:pt idx="7">
                  <c:v>C++</c:v>
                </c:pt>
                <c:pt idx="8">
                  <c:v>Python</c:v>
                </c:pt>
                <c:pt idx="9">
                  <c:v>Swift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84727</c:v>
                </c:pt>
                <c:pt idx="1">
                  <c:v>84793</c:v>
                </c:pt>
                <c:pt idx="2">
                  <c:v>88726</c:v>
                </c:pt>
                <c:pt idx="3">
                  <c:v>92037</c:v>
                </c:pt>
                <c:pt idx="4">
                  <c:v>94082</c:v>
                </c:pt>
                <c:pt idx="5">
                  <c:v>101013</c:v>
                </c:pt>
                <c:pt idx="6">
                  <c:v>110981</c:v>
                </c:pt>
                <c:pt idx="7">
                  <c:v>113865</c:v>
                </c:pt>
                <c:pt idx="8">
                  <c:v>114383</c:v>
                </c:pt>
                <c:pt idx="9">
                  <c:v>130801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0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44546A"/>
                </a:solidFill>
              </a:rPr>
              <a:t>Top 10 Languages Used (Current Year)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E8792B"/>
            </a:solidFill>
          </c:spPr>
          <c:cat>
            <c:strRef>
              <c:f>Sheet1!$A$2:$A$11</c:f>
              <c:strCache>
                <c:ptCount val="10"/>
                <c:pt idx="0">
                  <c:v>PowerShell</c:v>
                </c:pt>
                <c:pt idx="1">
                  <c:v>PHP</c:v>
                </c:pt>
                <c:pt idx="2">
                  <c:v>Java</c:v>
                </c:pt>
                <c:pt idx="3">
                  <c:v>C#</c:v>
                </c:pt>
                <c:pt idx="4">
                  <c:v>Bash/Shell</c:v>
                </c:pt>
                <c:pt idx="5">
                  <c:v>Python</c:v>
                </c:pt>
                <c:pt idx="6">
                  <c:v>TypeScript</c:v>
                </c:pt>
                <c:pt idx="7">
                  <c:v>HTML/CSS</c:v>
                </c:pt>
                <c:pt idx="8">
                  <c:v>SQL</c:v>
                </c:pt>
                <c:pt idx="9">
                  <c:v>JavaScript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3438</c:v>
                </c:pt>
                <c:pt idx="1">
                  <c:v>4644</c:v>
                </c:pt>
                <c:pt idx="2">
                  <c:v>5982</c:v>
                </c:pt>
                <c:pt idx="3">
                  <c:v>6340</c:v>
                </c:pt>
                <c:pt idx="4">
                  <c:v>7244</c:v>
                </c:pt>
                <c:pt idx="5">
                  <c:v>9590</c:v>
                </c:pt>
                <c:pt idx="6">
                  <c:v>10709</c:v>
                </c:pt>
                <c:pt idx="7">
                  <c:v>12410</c:v>
                </c:pt>
                <c:pt idx="8">
                  <c:v>12602</c:v>
                </c:pt>
                <c:pt idx="9">
                  <c:v>14943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44546A"/>
                </a:solidFill>
              </a:rPr>
              <a:t>Top 10 Languages Wanted (Next Year)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44546A"/>
            </a:solidFill>
          </c:spPr>
          <c:cat>
            <c:strRef>
              <c:f>Sheet1!$A$2:$A$11</c:f>
              <c:strCache>
                <c:ptCount val="10"/>
                <c:pt idx="0">
                  <c:v>Java</c:v>
                </c:pt>
                <c:pt idx="1">
                  <c:v>Bash/Shell</c:v>
                </c:pt>
                <c:pt idx="2">
                  <c:v>C#</c:v>
                </c:pt>
                <c:pt idx="3">
                  <c:v>Rust</c:v>
                </c:pt>
                <c:pt idx="4">
                  <c:v>Go</c:v>
                </c:pt>
                <c:pt idx="5">
                  <c:v>Python</c:v>
                </c:pt>
                <c:pt idx="6">
                  <c:v>HTML/CSS</c:v>
                </c:pt>
                <c:pt idx="7">
                  <c:v>TypeScript</c:v>
                </c:pt>
                <c:pt idx="8">
                  <c:v>SQL</c:v>
                </c:pt>
                <c:pt idx="9">
                  <c:v>JavaScript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4048</c:v>
                </c:pt>
                <c:pt idx="1">
                  <c:v>5582</c:v>
                </c:pt>
                <c:pt idx="2">
                  <c:v>5590</c:v>
                </c:pt>
                <c:pt idx="3">
                  <c:v>5597</c:v>
                </c:pt>
                <c:pt idx="4">
                  <c:v>5661</c:v>
                </c:pt>
                <c:pt idx="5">
                  <c:v>8919</c:v>
                </c:pt>
                <c:pt idx="6">
                  <c:v>10016</c:v>
                </c:pt>
                <c:pt idx="7">
                  <c:v>10437</c:v>
                </c:pt>
                <c:pt idx="8">
                  <c:v>10944</c:v>
                </c:pt>
                <c:pt idx="9">
                  <c:v>11541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44546A"/>
                </a:solidFill>
              </a:rPr>
              <a:t>Top 10 Databases Used (Current Year)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E8792B"/>
            </a:solidFill>
          </c:spPr>
          <c:cat>
            <c:strRef>
              <c:f>Sheet1!$A$2:$A$11</c:f>
              <c:strCache>
                <c:ptCount val="10"/>
                <c:pt idx="0">
                  <c:v>Oracle</c:v>
                </c:pt>
                <c:pt idx="1">
                  <c:v>DynamoDB</c:v>
                </c:pt>
                <c:pt idx="2">
                  <c:v>Elasticsearch</c:v>
                </c:pt>
                <c:pt idx="3">
                  <c:v>MariaDB</c:v>
                </c:pt>
                <c:pt idx="4">
                  <c:v>Redis</c:v>
                </c:pt>
                <c:pt idx="5">
                  <c:v>MS SQL Server</c:v>
                </c:pt>
                <c:pt idx="6">
                  <c:v>MongoDB</c:v>
                </c:pt>
                <c:pt idx="7">
                  <c:v>SQLite</c:v>
                </c:pt>
                <c:pt idx="8">
                  <c:v>MySQL</c:v>
                </c:pt>
                <c:pt idx="9">
                  <c:v>PostgreSQL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1907</c:v>
                </c:pt>
                <c:pt idx="1">
                  <c:v>2268</c:v>
                </c:pt>
                <c:pt idx="2">
                  <c:v>3491</c:v>
                </c:pt>
                <c:pt idx="3">
                  <c:v>3994</c:v>
                </c:pt>
                <c:pt idx="4">
                  <c:v>5814</c:v>
                </c:pt>
                <c:pt idx="5">
                  <c:v>5870</c:v>
                </c:pt>
                <c:pt idx="6">
                  <c:v>5930</c:v>
                </c:pt>
                <c:pt idx="7">
                  <c:v>7021</c:v>
                </c:pt>
                <c:pt idx="8">
                  <c:v>8556</c:v>
                </c:pt>
                <c:pt idx="9">
                  <c:v>11514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44546A"/>
                </a:solidFill>
              </a:rPr>
              <a:t>Top 10 Databases Wanted (Next Year)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44546A"/>
            </a:solidFill>
          </c:spPr>
          <c:cat>
            <c:strRef>
              <c:f>Sheet1!$A$2:$A$11</c:f>
              <c:strCache>
                <c:ptCount val="10"/>
                <c:pt idx="0">
                  <c:v>Supabase</c:v>
                </c:pt>
                <c:pt idx="1">
                  <c:v>DynamoDB</c:v>
                </c:pt>
                <c:pt idx="2">
                  <c:v>MariaDB</c:v>
                </c:pt>
                <c:pt idx="3">
                  <c:v>Elasticsearch</c:v>
                </c:pt>
                <c:pt idx="4">
                  <c:v>MS SQL Server</c:v>
                </c:pt>
                <c:pt idx="5">
                  <c:v>MongoDB</c:v>
                </c:pt>
                <c:pt idx="6">
                  <c:v>MySQL</c:v>
                </c:pt>
                <c:pt idx="7">
                  <c:v>SQLite</c:v>
                </c:pt>
                <c:pt idx="8">
                  <c:v>Redis</c:v>
                </c:pt>
                <c:pt idx="9">
                  <c:v>PostgreSQL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1623</c:v>
                </c:pt>
                <c:pt idx="1">
                  <c:v>2154</c:v>
                </c:pt>
                <c:pt idx="2">
                  <c:v>3078</c:v>
                </c:pt>
                <c:pt idx="3">
                  <c:v>3665</c:v>
                </c:pt>
                <c:pt idx="4">
                  <c:v>4345</c:v>
                </c:pt>
                <c:pt idx="5">
                  <c:v>5618</c:v>
                </c:pt>
                <c:pt idx="6">
                  <c:v>6204</c:v>
                </c:pt>
                <c:pt idx="7">
                  <c:v>6295</c:v>
                </c:pt>
                <c:pt idx="8">
                  <c:v>6384</c:v>
                </c:pt>
                <c:pt idx="9">
                  <c:v>12193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44546A"/>
                </a:solidFill>
              </a:rPr>
              <a:t>Cloud Platforms: % of Respondents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 year (used)</c:v>
                </c:pt>
              </c:strCache>
            </c:strRef>
          </c:tx>
          <c:spPr>
            <a:solidFill>
              <a:srgbClr val="E8792B"/>
            </a:solidFill>
          </c:spPr>
          <c:cat>
            <c:strRef>
              <c:f>Sheet1!$A$2:$A$11</c:f>
              <c:strCache>
                <c:ptCount val="10"/>
                <c:pt idx="0">
                  <c:v>Supabase</c:v>
                </c:pt>
                <c:pt idx="1">
                  <c:v>Hetzner</c:v>
                </c:pt>
                <c:pt idx="2">
                  <c:v>Heroku</c:v>
                </c:pt>
                <c:pt idx="3">
                  <c:v>Vercel</c:v>
                </c:pt>
                <c:pt idx="4">
                  <c:v>Firebase</c:v>
                </c:pt>
                <c:pt idx="5">
                  <c:v>Digital Ocean</c:v>
                </c:pt>
                <c:pt idx="6">
                  <c:v>Cloudflare</c:v>
                </c:pt>
                <c:pt idx="7">
                  <c:v>Google Cloud</c:v>
                </c:pt>
                <c:pt idx="8">
                  <c:v>Microsoft Azure</c:v>
                </c:pt>
                <c:pt idx="9">
                  <c:v>AWS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0.074</c:v>
                </c:pt>
                <c:pt idx="2">
                  <c:v>0.106</c:v>
                </c:pt>
                <c:pt idx="3">
                  <c:v>0.153</c:v>
                </c:pt>
                <c:pt idx="4">
                  <c:v>0.161</c:v>
                </c:pt>
                <c:pt idx="5">
                  <c:v>0.168</c:v>
                </c:pt>
                <c:pt idx="6">
                  <c:v>0.206</c:v>
                </c:pt>
                <c:pt idx="7">
                  <c:v>0.294</c:v>
                </c:pt>
                <c:pt idx="8">
                  <c:v>0.355</c:v>
                </c:pt>
                <c:pt idx="9">
                  <c:v>0.577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Next year (wanted)</c:v>
                </c:pt>
              </c:strCache>
            </c:strRef>
          </c:tx>
          <c:spPr>
            <a:solidFill>
              <a:srgbClr val="44546A"/>
            </a:solidFill>
          </c:spPr>
          <c:cat>
            <c:strRef>
              <c:f>Sheet1!$A$2:$A$11</c:f>
              <c:strCache>
                <c:ptCount val="10"/>
                <c:pt idx="0">
                  <c:v>Supabase</c:v>
                </c:pt>
                <c:pt idx="1">
                  <c:v>Hetzner</c:v>
                </c:pt>
                <c:pt idx="2">
                  <c:v>Heroku</c:v>
                </c:pt>
                <c:pt idx="3">
                  <c:v>Vercel</c:v>
                </c:pt>
                <c:pt idx="4">
                  <c:v>Firebase</c:v>
                </c:pt>
                <c:pt idx="5">
                  <c:v>Digital Ocean</c:v>
                </c:pt>
                <c:pt idx="6">
                  <c:v>Cloudflare</c:v>
                </c:pt>
                <c:pt idx="7">
                  <c:v>Google Cloud</c:v>
                </c:pt>
                <c:pt idx="8">
                  <c:v>Microsoft Azure</c:v>
                </c:pt>
                <c:pt idx="9">
                  <c:v>AWS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0.073</c:v>
                </c:pt>
                <c:pt idx="1">
                  <c:v>0.084</c:v>
                </c:pt>
                <c:pt idx="2">
                  <c:v>0</c:v>
                </c:pt>
                <c:pt idx="3">
                  <c:v>0.147</c:v>
                </c:pt>
                <c:pt idx="4">
                  <c:v>0.144</c:v>
                </c:pt>
                <c:pt idx="5">
                  <c:v>0.154</c:v>
                </c:pt>
                <c:pt idx="6">
                  <c:v>0.224</c:v>
                </c:pt>
                <c:pt idx="7">
                  <c:v>0.288</c:v>
                </c:pt>
                <c:pt idx="8">
                  <c:v>0.339</c:v>
                </c:pt>
                <c:pt idx="9">
                  <c:v>0.558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44546A"/>
                </a:solidFill>
              </a:rPr>
              <a:t>Web Frameworks: % of Respondents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 year (used)</c:v>
                </c:pt>
              </c:strCache>
            </c:strRef>
          </c:tx>
          <c:spPr>
            <a:solidFill>
              <a:srgbClr val="E8792B"/>
            </a:solidFill>
          </c:spPr>
          <c:cat>
            <c:strRef>
              <c:f>Sheet1!$A$2:$A$11</c:f>
              <c:strCache>
                <c:ptCount val="10"/>
                <c:pt idx="0">
                  <c:v>FastAPI</c:v>
                </c:pt>
                <c:pt idx="1">
                  <c:v>Spring Boot</c:v>
                </c:pt>
                <c:pt idx="2">
                  <c:v>jQuery</c:v>
                </c:pt>
                <c:pt idx="3">
                  <c:v>Express</c:v>
                </c:pt>
                <c:pt idx="4">
                  <c:v>Vue.js</c:v>
                </c:pt>
                <c:pt idx="5">
                  <c:v>Angular</c:v>
                </c:pt>
                <c:pt idx="6">
                  <c:v>ASP.NET Core</c:v>
                </c:pt>
                <c:pt idx="7">
                  <c:v>Next.js</c:v>
                </c:pt>
                <c:pt idx="8">
                  <c:v>React</c:v>
                </c:pt>
                <c:pt idx="9">
                  <c:v>Node.js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0.155</c:v>
                </c:pt>
                <c:pt idx="2">
                  <c:v>0.255</c:v>
                </c:pt>
                <c:pt idx="3">
                  <c:v>0.234</c:v>
                </c:pt>
                <c:pt idx="4">
                  <c:v>0.193</c:v>
                </c:pt>
                <c:pt idx="5">
                  <c:v>0.214</c:v>
                </c:pt>
                <c:pt idx="6">
                  <c:v>0.229</c:v>
                </c:pt>
                <c:pt idx="7">
                  <c:v>0.233</c:v>
                </c:pt>
                <c:pt idx="8">
                  <c:v>0.478</c:v>
                </c:pt>
                <c:pt idx="9">
                  <c:v>0.49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Next year (wanted)</c:v>
                </c:pt>
              </c:strCache>
            </c:strRef>
          </c:tx>
          <c:spPr>
            <a:solidFill>
              <a:srgbClr val="44546A"/>
            </a:solidFill>
          </c:spPr>
          <c:cat>
            <c:strRef>
              <c:f>Sheet1!$A$2:$A$11</c:f>
              <c:strCache>
                <c:ptCount val="10"/>
                <c:pt idx="0">
                  <c:v>FastAPI</c:v>
                </c:pt>
                <c:pt idx="1">
                  <c:v>Spring Boot</c:v>
                </c:pt>
                <c:pt idx="2">
                  <c:v>jQuery</c:v>
                </c:pt>
                <c:pt idx="3">
                  <c:v>Express</c:v>
                </c:pt>
                <c:pt idx="4">
                  <c:v>Vue.js</c:v>
                </c:pt>
                <c:pt idx="5">
                  <c:v>Angular</c:v>
                </c:pt>
                <c:pt idx="6">
                  <c:v>ASP.NET Core</c:v>
                </c:pt>
                <c:pt idx="7">
                  <c:v>Next.js</c:v>
                </c:pt>
                <c:pt idx="8">
                  <c:v>React</c:v>
                </c:pt>
                <c:pt idx="9">
                  <c:v>Node.js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0.15</c:v>
                </c:pt>
                <c:pt idx="1">
                  <c:v>0.142</c:v>
                </c:pt>
                <c:pt idx="2">
                  <c:v>0</c:v>
                </c:pt>
                <c:pt idx="3">
                  <c:v>0.171</c:v>
                </c:pt>
                <c:pt idx="4">
                  <c:v>0.207</c:v>
                </c:pt>
                <c:pt idx="5">
                  <c:v>0.176</c:v>
                </c:pt>
                <c:pt idx="6">
                  <c:v>0.221</c:v>
                </c:pt>
                <c:pt idx="7">
                  <c:v>0.237</c:v>
                </c:pt>
                <c:pt idx="8">
                  <c:v>0.436</c:v>
                </c:pt>
                <c:pt idx="9">
                  <c:v>0.43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44546A"/>
                </a:solidFill>
              </a:rPr>
              <a:t>IDEs: % of Respondents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 year (used)</c:v>
                </c:pt>
              </c:strCache>
            </c:strRef>
          </c:tx>
          <c:spPr>
            <a:solidFill>
              <a:srgbClr val="E8792B"/>
            </a:solidFill>
          </c:spPr>
          <c:cat>
            <c:strRef>
              <c:f>Sheet1!$A$2:$A$12</c:f>
              <c:strCache>
                <c:ptCount val="11"/>
                <c:pt idx="0">
                  <c:v>WebStorm</c:v>
                </c:pt>
                <c:pt idx="1">
                  <c:v>Neovim</c:v>
                </c:pt>
                <c:pt idx="2">
                  <c:v>Sublime Text</c:v>
                </c:pt>
                <c:pt idx="3">
                  <c:v>Jupyter</c:v>
                </c:pt>
                <c:pt idx="4">
                  <c:v>PyCharm</c:v>
                </c:pt>
                <c:pt idx="5">
                  <c:v>Android Studio</c:v>
                </c:pt>
                <c:pt idx="6">
                  <c:v>Vim</c:v>
                </c:pt>
                <c:pt idx="7">
                  <c:v>Notepad++</c:v>
                </c:pt>
                <c:pt idx="8">
                  <c:v>IntelliJ IDEA</c:v>
                </c:pt>
                <c:pt idx="9">
                  <c:v>Visual Studio</c:v>
                </c:pt>
                <c:pt idx="10">
                  <c:v>Visual Studio Code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0.124</c:v>
                </c:pt>
                <c:pt idx="2">
                  <c:v>0.134</c:v>
                </c:pt>
                <c:pt idx="3">
                  <c:v>0.138</c:v>
                </c:pt>
                <c:pt idx="4">
                  <c:v>0.162</c:v>
                </c:pt>
                <c:pt idx="5">
                  <c:v>0.19</c:v>
                </c:pt>
                <c:pt idx="6">
                  <c:v>0.231</c:v>
                </c:pt>
                <c:pt idx="7">
                  <c:v>0.263</c:v>
                </c:pt>
                <c:pt idx="8">
                  <c:v>0.296</c:v>
                </c:pt>
                <c:pt idx="9">
                  <c:v>0.322</c:v>
                </c:pt>
                <c:pt idx="10">
                  <c:v>0.797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Next year (wanted)</c:v>
                </c:pt>
              </c:strCache>
            </c:strRef>
          </c:tx>
          <c:spPr>
            <a:solidFill>
              <a:srgbClr val="44546A"/>
            </a:solidFill>
          </c:spPr>
          <c:cat>
            <c:strRef>
              <c:f>Sheet1!$A$2:$A$12</c:f>
              <c:strCache>
                <c:ptCount val="11"/>
                <c:pt idx="0">
                  <c:v>WebStorm</c:v>
                </c:pt>
                <c:pt idx="1">
                  <c:v>Neovim</c:v>
                </c:pt>
                <c:pt idx="2">
                  <c:v>Sublime Text</c:v>
                </c:pt>
                <c:pt idx="3">
                  <c:v>Jupyter</c:v>
                </c:pt>
                <c:pt idx="4">
                  <c:v>PyCharm</c:v>
                </c:pt>
                <c:pt idx="5">
                  <c:v>Android Studio</c:v>
                </c:pt>
                <c:pt idx="6">
                  <c:v>Vim</c:v>
                </c:pt>
                <c:pt idx="7">
                  <c:v>Notepad++</c:v>
                </c:pt>
                <c:pt idx="8">
                  <c:v>IntelliJ IDEA</c:v>
                </c:pt>
                <c:pt idx="9">
                  <c:v>Visual Studio</c:v>
                </c:pt>
                <c:pt idx="10">
                  <c:v>Visual Studio Code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0.097</c:v>
                </c:pt>
                <c:pt idx="1">
                  <c:v>0.142</c:v>
                </c:pt>
                <c:pt idx="2">
                  <c:v>0</c:v>
                </c:pt>
                <c:pt idx="3">
                  <c:v>0.115</c:v>
                </c:pt>
                <c:pt idx="4">
                  <c:v>0.135</c:v>
                </c:pt>
                <c:pt idx="5">
                  <c:v>0.125</c:v>
                </c:pt>
                <c:pt idx="6">
                  <c:v>0.193</c:v>
                </c:pt>
                <c:pt idx="7">
                  <c:v>0.191</c:v>
                </c:pt>
                <c:pt idx="8">
                  <c:v>0.247</c:v>
                </c:pt>
                <c:pt idx="9">
                  <c:v>0.242</c:v>
                </c:pt>
                <c:pt idx="10">
                  <c:v>0.721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image" Target="../media/image1.png"/><Relationship Id="rId10" Type="http://schemas.microsoft.com/office/2007/relationships/hdphoto" Target="../media/hdphoto1.wdp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image" Target="../media/image4.png"/><Relationship Id="rId14" Type="http://schemas.openxmlformats.org/officeDocument/2006/relationships/image" Target="../media/image5.svg"/><Relationship Id="rId15" Type="http://schemas.openxmlformats.org/officeDocument/2006/relationships/image" Target="../media/image6.png"/><Relationship Id="rId16" Type="http://schemas.openxmlformats.org/officeDocument/2006/relationships/image" Target="../media/image7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4" Type="http://schemas.openxmlformats.org/officeDocument/2006/relationships/customXml" Target="../ink/ink1.xml"/><Relationship Id="rId5" Type="http://schemas.openxmlformats.org/officeDocument/2006/relationships/image" Target="../media/image10.png"/><Relationship Id="rId6" Type="http://schemas.openxmlformats.org/officeDocument/2006/relationships/customXml" Target="../ink/ink2.xml"/><Relationship Id="rId7" Type="http://schemas.openxmlformats.org/officeDocument/2006/relationships/customXml" Target="../ink/ink3.xml"/><Relationship Id="rId8" Type="http://schemas.openxmlformats.org/officeDocument/2006/relationships/customXml" Target="../ink/ink4.xml"/><Relationship Id="rId9" Type="http://schemas.openxmlformats.org/officeDocument/2006/relationships/image" Target="../media/image11.png"/><Relationship Id="rId10" Type="http://schemas.openxmlformats.org/officeDocument/2006/relationships/customXml" Target="../ink/ink5.xml"/><Relationship Id="rId11" Type="http://schemas.openxmlformats.org/officeDocument/2006/relationships/customXml" Target="../ink/ink6.xml"/><Relationship Id="rId12" Type="http://schemas.openxmlformats.org/officeDocument/2006/relationships/customXml" Target="../ink/ink7.xml"/><Relationship Id="rId13" Type="http://schemas.openxmlformats.org/officeDocument/2006/relationships/customXml" Target="../ink/ink8.xml"/><Relationship Id="rId14" Type="http://schemas.openxmlformats.org/officeDocument/2006/relationships/customXml" Target="../ink/ink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3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3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3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3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4" Type="http://schemas.openxmlformats.org/officeDocument/2006/relationships/chart" Target="../charts/char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4" Type="http://schemas.openxmlformats.org/officeDocument/2006/relationships/chart" Target="../charts/char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4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sz="2800"/>
              <a:t>Developer Technology Trends: Stack Overflow Survey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+mn-lt"/>
              </a:rPr>
              <a:t>Data Analyst Capstone Project</a:t>
            </a:r>
          </a:p>
          <a:p>
            <a:pPr marL="0" indent="0">
              <a:buNone/>
            </a:pPr>
            <a:endParaRPr sz="1200"/>
          </a:p>
          <a:p>
            <a:pPr marL="0" indent="0">
              <a:buNone/>
            </a:pPr>
            <a:r>
              <a:rPr lang="en-US" sz="1800">
                <a:latin typeface="+mn-lt"/>
              </a:rPr>
              <a:t>Oluwakanyinsola Ifeoluwa Adebanjo</a:t>
            </a:r>
          </a:p>
          <a:p>
            <a:pPr marL="0" indent="0">
              <a:buNone/>
            </a:pPr>
            <a:r>
              <a:rPr lang="en-US" sz="1800">
                <a:latin typeface="+mn-lt"/>
              </a:rPr>
              <a:t>October 8,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5120640" y="1508760"/>
            <a:ext cx="6583680" cy="475488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sz="1500">
                <a:latin typeface="+mn-lt"/>
              </a:rPr>
              <a:t>Executive Summary</a:t>
            </a:r>
          </a:p>
          <a:p>
            <a:pPr/>
            <a:r>
              <a:rPr lang="en-US" sz="1500">
                <a:latin typeface="+mn-lt"/>
              </a:rPr>
              <a:t>Introduction</a:t>
            </a:r>
          </a:p>
          <a:p>
            <a:pPr/>
            <a:r>
              <a:rPr lang="en-US" sz="1500">
                <a:latin typeface="+mn-lt"/>
              </a:rPr>
              <a:t>Methodology</a:t>
            </a:r>
          </a:p>
          <a:p>
            <a:pPr/>
            <a:r>
              <a:rPr lang="en-US" sz="1500">
                <a:latin typeface="+mn-lt"/>
              </a:rPr>
              <a:t>Results</a:t>
            </a:r>
          </a:p>
          <a:p>
            <a:pPr lvl="1"/>
            <a:r>
              <a:rPr lang="en-US" sz="1300">
                <a:latin typeface="+mn-lt"/>
              </a:rPr>
              <a:t>Job Postings  |  Popular Languages</a:t>
            </a:r>
          </a:p>
          <a:p>
            <a:pPr lvl="1"/>
            <a:r>
              <a:rPr lang="en-US" sz="1300">
                <a:latin typeface="+mn-lt"/>
              </a:rPr>
              <a:t>Programming Language Trends + Findings &amp; Implications</a:t>
            </a:r>
          </a:p>
          <a:p>
            <a:pPr lvl="1"/>
            <a:r>
              <a:rPr lang="en-US" sz="1300">
                <a:latin typeface="+mn-lt"/>
              </a:rPr>
              <a:t>Database Trends + Findings &amp; Implications</a:t>
            </a:r>
          </a:p>
          <a:p>
            <a:pPr/>
            <a:r>
              <a:rPr lang="en-US" sz="1500">
                <a:latin typeface="+mn-lt"/>
              </a:rPr>
              <a:t>Dashboard</a:t>
            </a:r>
          </a:p>
          <a:p>
            <a:pPr lvl="1"/>
            <a:r>
              <a:rPr lang="en-US" sz="1300">
                <a:latin typeface="+mn-lt"/>
              </a:rPr>
              <a:t>Tab 1: Current Technology Usage</a:t>
            </a:r>
          </a:p>
          <a:p>
            <a:pPr lvl="1"/>
            <a:r>
              <a:rPr lang="en-US" sz="1300">
                <a:latin typeface="+mn-lt"/>
              </a:rPr>
              <a:t>Tab 2: Future Technology Trends</a:t>
            </a:r>
          </a:p>
          <a:p>
            <a:pPr lvl="1"/>
            <a:r>
              <a:rPr lang="en-US" sz="1300">
                <a:latin typeface="+mn-lt"/>
              </a:rPr>
              <a:t>Tab 3: Demographics</a:t>
            </a:r>
          </a:p>
          <a:p>
            <a:pPr/>
            <a:r>
              <a:rPr lang="en-US" sz="1500">
                <a:latin typeface="+mn-lt"/>
              </a:rPr>
              <a:t>Discussion</a:t>
            </a:r>
          </a:p>
          <a:p>
            <a:pPr/>
            <a:r>
              <a:rPr lang="en-US" sz="1500">
                <a:latin typeface="+mn-lt"/>
              </a:rPr>
              <a:t>Overall Findings &amp; Implications</a:t>
            </a:r>
          </a:p>
          <a:p>
            <a:pPr/>
            <a:r>
              <a:rPr lang="en-US" sz="1500">
                <a:latin typeface="+mn-lt"/>
              </a:rPr>
              <a:t>Conclusion</a:t>
            </a:r>
          </a:p>
          <a:p>
            <a:pPr/>
            <a:r>
              <a:rPr lang="en-US" sz="1500">
                <a:latin typeface="+mn-lt"/>
              </a:rPr>
              <a:t>Appendix: Cloud Platforms, Web Frameworks, IDEs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389349" y="1630528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latin typeface="+mn-lt"/>
              </a:rPr>
              <a:t>Stack Overflow Developer Survey: 18,845 professional developers analysed</a:t>
            </a:r>
          </a:p>
          <a:p>
            <a:pPr/>
            <a:r>
              <a:rPr lang="en-US" sz="1400" b="1">
                <a:latin typeface="+mn-lt"/>
              </a:rPr>
              <a:t>Languages: </a:t>
            </a:r>
            <a:r>
              <a:rPr lang="en-US" sz="1400">
                <a:latin typeface="+mn-lt"/>
              </a:rPr>
              <a:t>JavaScript (79%), SQL (67%) and HTML/CSS (66%) lead today; they stay on top next year</a:t>
            </a:r>
          </a:p>
          <a:p>
            <a:pPr/>
            <a:r>
              <a:rPr lang="en-US" sz="1400" b="1">
                <a:latin typeface="+mn-lt"/>
              </a:rPr>
              <a:t>Rising languages: </a:t>
            </a:r>
            <a:r>
              <a:rPr lang="en-US" sz="1400">
                <a:latin typeface="+mn-lt"/>
              </a:rPr>
              <a:t>Rust and Go are the fastest-growing choices (wanted by 2.5x and 1.7x more developers than use them)</a:t>
            </a:r>
          </a:p>
          <a:p>
            <a:pPr/>
            <a:r>
              <a:rPr lang="en-US" sz="1400" b="1">
                <a:latin typeface="+mn-lt"/>
              </a:rPr>
              <a:t>Databases: </a:t>
            </a:r>
            <a:r>
              <a:rPr lang="en-US" sz="1400">
                <a:latin typeface="+mn-lt"/>
              </a:rPr>
              <a:t>PostgreSQL dominates now (61%) and next year (65%); Redis climbs to #2</a:t>
            </a:r>
          </a:p>
          <a:p>
            <a:pPr/>
            <a:r>
              <a:rPr lang="en-US" sz="1400" b="1">
                <a:latin typeface="+mn-lt"/>
              </a:rPr>
              <a:t>Cloud: </a:t>
            </a:r>
            <a:r>
              <a:rPr lang="en-US" sz="1400">
                <a:latin typeface="+mn-lt"/>
              </a:rPr>
              <a:t>AWS leads platforms (58%), ahead of Azure (36%) and Google Cloud (29%)</a:t>
            </a:r>
          </a:p>
          <a:p>
            <a:pPr/>
            <a:r>
              <a:rPr lang="en-US" sz="1400" b="1">
                <a:latin typeface="+mn-lt"/>
              </a:rPr>
              <a:t>Tools: </a:t>
            </a:r>
            <a:r>
              <a:rPr lang="en-US" sz="1400">
                <a:latin typeface="+mn-lt"/>
              </a:rPr>
              <a:t>Visual Studio Code is the most popular IDE (80%), followed by Visual Studio and IntelliJ IDEA</a:t>
            </a:r>
          </a:p>
          <a:p>
            <a:pPr/>
            <a:r>
              <a:rPr lang="en-US" sz="1400" b="1">
                <a:latin typeface="+mn-lt"/>
              </a:rPr>
              <a:t>Who responded: </a:t>
            </a:r>
            <a:r>
              <a:rPr lang="en-US" sz="1400">
                <a:latin typeface="+mn-lt"/>
              </a:rPr>
              <a:t>69% are aged 25 to 44; 46% hold a bachelor's degree; the USA, Germany and India lead</a:t>
            </a:r>
          </a:p>
          <a:p>
            <a:pPr/>
            <a:r>
              <a:rPr lang="en-US" sz="1400" b="1">
                <a:latin typeface="+mn-lt"/>
              </a:rPr>
              <a:t>Jobs and pay: </a:t>
            </a:r>
            <a:r>
              <a:rPr lang="en-US" sz="1400">
                <a:latin typeface="+mn-lt"/>
              </a:rPr>
              <a:t>Swift, Python and C++ pay the highest average salaries (US$114K to US$131K)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262626"/>
                </a:solidFill>
                <a:latin typeface="+mn-lt"/>
              </a:rPr>
              <a:t>Purpose, target audience and value of the analysis</a:t>
            </a:r>
          </a:p>
          <a:p>
            <a:pPr/>
            <a:r>
              <a:rPr lang="en-US" sz="1400" b="1">
                <a:solidFill>
                  <a:srgbClr val="262626"/>
                </a:solidFill>
                <a:latin typeface="+mn-lt"/>
              </a:rPr>
              <a:t>Purpose: </a:t>
            </a:r>
            <a:r>
              <a:rPr lang="en-US" sz="1400">
                <a:solidFill>
                  <a:srgbClr val="262626"/>
                </a:solidFill>
                <a:latin typeface="+mn-lt"/>
              </a:rPr>
              <a:t>help our IT and business consulting firm stay competitive by identifying in-demand and emerging technology skills</a:t>
            </a:r>
          </a:p>
          <a:p>
            <a:pPr/>
            <a:r>
              <a:rPr lang="en-US" sz="1400" b="1">
                <a:solidFill>
                  <a:srgbClr val="262626"/>
                </a:solidFill>
                <a:latin typeface="+mn-lt"/>
              </a:rPr>
              <a:t>Target audience: </a:t>
            </a:r>
            <a:r>
              <a:rPr lang="en-US" sz="1400">
                <a:solidFill>
                  <a:srgbClr val="262626"/>
                </a:solidFill>
                <a:latin typeface="+mn-lt"/>
              </a:rPr>
              <a:t>firm leadership, consultants, hiring managers and training teams</a:t>
            </a:r>
          </a:p>
          <a:p>
            <a:pPr/>
            <a:r>
              <a:rPr lang="en-US" sz="1400" b="1">
                <a:solidFill>
                  <a:srgbClr val="262626"/>
                </a:solidFill>
                <a:latin typeface="+mn-lt"/>
              </a:rPr>
              <a:t>Value: </a:t>
            </a:r>
            <a:r>
              <a:rPr lang="en-US" sz="1400">
                <a:solidFill>
                  <a:srgbClr val="262626"/>
                </a:solidFill>
                <a:latin typeface="+mn-lt"/>
              </a:rPr>
              <a:t>evidence-based guidance on which skills are in demand now and which are gaining momentum</a:t>
            </a:r>
          </a:p>
          <a:p>
            <a:pPr/>
            <a:r>
              <a:rPr lang="en-US" sz="1400" b="1">
                <a:solidFill>
                  <a:srgbClr val="262626"/>
                </a:solidFill>
                <a:latin typeface="+mn-lt"/>
              </a:rPr>
              <a:t>Questions answered:</a:t>
            </a:r>
            <a:r>
              <a:rPr lang="en-US" sz="1400">
                <a:solidFill>
                  <a:srgbClr val="262626"/>
                </a:solidFill>
                <a:latin typeface="+mn-lt"/>
              </a:rPr>
              <a:t/>
            </a:r>
          </a:p>
          <a:p>
            <a:pPr lvl="1"/>
            <a:r>
              <a:rPr lang="en-US" sz="1300">
                <a:solidFill>
                  <a:srgbClr val="262626"/>
                </a:solidFill>
                <a:latin typeface="+mn-lt"/>
              </a:rPr>
              <a:t>Which technologies are rising or declining for next year?</a:t>
            </a:r>
          </a:p>
          <a:p>
            <a:pPr lvl="1"/>
            <a:r>
              <a:rPr lang="en-US" sz="1300">
                <a:solidFill>
                  <a:srgbClr val="262626"/>
                </a:solidFill>
                <a:latin typeface="+mn-lt"/>
              </a:rPr>
              <a:t>Who are the respondents (age, country, education)?</a:t>
            </a:r>
          </a:p>
          <a:p>
            <a:pPr lvl="1"/>
            <a:r>
              <a:rPr lang="en-US" sz="1300">
                <a:solidFill>
                  <a:srgbClr val="262626"/>
                </a:solidFill>
                <a:latin typeface="+mn-lt"/>
              </a:rPr>
              <a:t>Which programming languages, databases and IDEs are most in demand?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554480"/>
            <a:ext cx="7068725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E8792B"/>
                </a:solidFill>
                <a:latin typeface="+mn-lt"/>
              </a:rPr>
              <a:t>Data Sources</a:t>
            </a:r>
          </a:p>
          <a:p>
            <a:pPr lvl="1"/>
            <a:r>
              <a:rPr lang="en-US" sz="1200">
                <a:latin typeface="+mn-lt"/>
              </a:rPr>
              <a:t>Stack Overflow Developer Survey subset (survey_data_updated.csv: 18,845 responses, 114 columns)</a:t>
            </a:r>
          </a:p>
          <a:p>
            <a:pPr lvl="1"/>
            <a:r>
              <a:rPr lang="en-US" sz="1200">
                <a:latin typeface="+mn-lt"/>
              </a:rPr>
              <a:t>Jobs API (jobs.json: 27,005 job postings)</a:t>
            </a:r>
          </a:p>
          <a:p>
            <a:pPr lvl="1"/>
            <a:r>
              <a:rPr lang="en-US" sz="1200">
                <a:latin typeface="+mn-lt"/>
              </a:rPr>
              <a:t>Programming-language salary web page (Programming_Languages.html)</a:t>
            </a:r>
          </a:p>
          <a:p>
            <a:pPr marL="0" indent="0">
              <a:buNone/>
              <a:spcBef>
                <a:spcPts val="800"/>
              </a:spcBef>
            </a:pPr>
            <a:r>
              <a:rPr lang="en-US" sz="1500" b="1">
                <a:solidFill>
                  <a:srgbClr val="E8792B"/>
                </a:solidFill>
                <a:latin typeface="+mn-lt"/>
              </a:rPr>
              <a:t>Data Collection Methods</a:t>
            </a:r>
          </a:p>
          <a:p>
            <a:pPr lvl="1"/>
            <a:r>
              <a:rPr lang="en-US" sz="1200">
                <a:latin typeface="+mn-lt"/>
              </a:rPr>
              <a:t>Downloaded the survey CSV and loaded it with pandas; queried it with SQL in SQLite</a:t>
            </a:r>
          </a:p>
          <a:p>
            <a:pPr lvl="1"/>
            <a:r>
              <a:rPr lang="en-US" sz="1200">
                <a:latin typeface="+mn-lt"/>
              </a:rPr>
              <a:t>Called the Jobs REST API with Python requests and saved results to job-postings.xlsx</a:t>
            </a:r>
          </a:p>
          <a:p>
            <a:pPr lvl="1"/>
            <a:r>
              <a:rPr lang="en-US" sz="1200">
                <a:latin typeface="+mn-lt"/>
              </a:rPr>
              <a:t>Web-scraped salaries with BeautifulSoup and saved them to popular-languages.csv</a:t>
            </a:r>
          </a:p>
          <a:p>
            <a:pPr marL="0" indent="0">
              <a:buNone/>
              <a:spcBef>
                <a:spcPts val="800"/>
              </a:spcBef>
            </a:pPr>
            <a:r>
              <a:rPr lang="en-US" sz="1500" b="1">
                <a:solidFill>
                  <a:srgbClr val="E8792B"/>
                </a:solidFill>
                <a:latin typeface="+mn-lt"/>
              </a:rPr>
              <a:t>Data Wrangling Steps</a:t>
            </a:r>
          </a:p>
          <a:p>
            <a:pPr lvl="1"/>
            <a:r>
              <a:rPr lang="en-US" sz="1200">
                <a:latin typeface="+mn-lt"/>
              </a:rPr>
              <a:t>Found and removed duplicate rows; confirmed ResponseId is unique</a:t>
            </a:r>
          </a:p>
          <a:p>
            <a:pPr lvl="1"/>
            <a:r>
              <a:rPr lang="en-US" sz="1200">
                <a:latin typeface="+mn-lt"/>
              </a:rPr>
              <a:t>Imputed missing values (most frequent value for categories, median for compensation)</a:t>
            </a:r>
          </a:p>
          <a:p>
            <a:pPr lvl="1"/>
            <a:r>
              <a:rPr lang="en-US" sz="1200">
                <a:latin typeface="+mn-lt"/>
              </a:rPr>
              <a:t>Normalised compensation (min-max, z-score, log) and removed outliers with the IQR method</a:t>
            </a:r>
          </a:p>
          <a:p>
            <a:pPr lvl="1"/>
            <a:r>
              <a:rPr lang="en-US" sz="1200">
                <a:latin typeface="+mn-lt"/>
              </a:rPr>
              <a:t>Split multi-select answers (e.g. "Python;SQL") into one row per technology</a:t>
            </a:r>
          </a:p>
          <a:p>
            <a:pPr marL="0" indent="0">
              <a:buNone/>
              <a:spcBef>
                <a:spcPts val="800"/>
              </a:spcBef>
            </a:pPr>
            <a:r>
              <a:rPr lang="en-US" sz="1200">
                <a:solidFill>
                  <a:srgbClr val="595959"/>
                </a:solidFill>
                <a:latin typeface="+mn-lt"/>
              </a:rPr>
              <a:t>Analysis: pandas, matplotlib and seaborn for EDA; IBM Cognos Analytics for the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468" y="2101175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 txBox="1"/>
          <p:nvPr/>
        </p:nvSpPr>
        <p:spPr>
          <a:xfrm>
            <a:off x="3818965" y="3126000"/>
            <a:ext cx="7413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>
                <a:latin typeface="+mn-lt"/>
              </a:rPr>
              <a:t>The following slides present job postings, language salaries, and programming language and database trends.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85800" y="1600200"/>
          <a:ext cx="7223760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Insight"/>
          <p:cNvSpPr txBox="1"/>
          <p:nvPr/>
        </p:nvSpPr>
        <p:spPr>
          <a:xfrm>
            <a:off x="8183879" y="1920240"/>
            <a:ext cx="329184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E8792B"/>
                </a:solidFill>
                <a:latin typeface="+mn-lt"/>
              </a:rPr>
              <a:t>Key observations</a:t>
            </a:r>
          </a:p>
          <a:p>
            <a:pPr>
              <a:spcBef>
                <a:spcPts val="800"/>
              </a:spcBef>
            </a:pPr>
            <a:r>
              <a:rPr lang="en-US" sz="1400">
                <a:latin typeface="+mn-lt"/>
              </a:rPr>
              <a:t>Washington DC has the most job postings (5,316)</a:t>
            </a:r>
          </a:p>
          <a:p>
            <a:pPr>
              <a:spcBef>
                <a:spcPts val="800"/>
              </a:spcBef>
            </a:pPr>
            <a:r>
              <a:rPr lang="en-US" sz="1400">
                <a:latin typeface="+mn-lt"/>
              </a:rPr>
              <a:t>Detroit, Seattle and New York each have more than 3,000</a:t>
            </a:r>
          </a:p>
          <a:p>
            <a:pPr>
              <a:spcBef>
                <a:spcPts val="800"/>
              </a:spcBef>
            </a:pPr>
            <a:r>
              <a:rPr lang="en-US" sz="1400">
                <a:latin typeface="+mn-lt"/>
              </a:rPr>
              <a:t>Los Angeles, San Francisco and Austin have far fewer (under 700 each)</a:t>
            </a:r>
          </a:p>
          <a:p>
            <a:pPr marL="0" indent="0">
              <a:buNone/>
              <a:spcBef>
                <a:spcPts val="1400"/>
              </a:spcBef>
            </a:pPr>
            <a:r>
              <a:rPr lang="en-US" sz="1100">
                <a:solidFill>
                  <a:srgbClr val="7F7F7F"/>
                </a:solidFill>
                <a:latin typeface="+mn-lt"/>
              </a:rPr>
              <a:t>Source: job-postings.xlsx (Jobs API lab, 27,005 job records)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383051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sz="3600"/>
              <a:t>POPULAR LANGUAGES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600200"/>
          <a:ext cx="7223760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Insight"/>
          <p:cNvSpPr txBox="1"/>
          <p:nvPr/>
        </p:nvSpPr>
        <p:spPr>
          <a:xfrm>
            <a:off x="8183879" y="1920240"/>
            <a:ext cx="329184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E8792B"/>
                </a:solidFill>
                <a:latin typeface="+mn-lt"/>
              </a:rPr>
              <a:t>Key observations</a:t>
            </a:r>
          </a:p>
          <a:p>
            <a:pPr>
              <a:spcBef>
                <a:spcPts val="800"/>
              </a:spcBef>
            </a:pPr>
            <a:r>
              <a:rPr lang="en-US" sz="1400">
                <a:latin typeface="+mn-lt"/>
              </a:rPr>
              <a:t>Swift pays the most at $130,801 a year</a:t>
            </a:r>
          </a:p>
          <a:p>
            <a:pPr>
              <a:spcBef>
                <a:spcPts val="800"/>
              </a:spcBef>
            </a:pPr>
            <a:r>
              <a:rPr lang="en-US" sz="1400">
                <a:latin typeface="+mn-lt"/>
              </a:rPr>
              <a:t>Python ($114,383) and C++ ($113,865) follow closely</a:t>
            </a:r>
          </a:p>
          <a:p>
            <a:pPr>
              <a:spcBef>
                <a:spcPts val="800"/>
              </a:spcBef>
            </a:pPr>
            <a:r>
              <a:rPr lang="en-US" sz="1400">
                <a:latin typeface="+mn-lt"/>
              </a:rPr>
              <a:t>SQL and PHP are the lowest paid (about $85K) even though they are widely used</a:t>
            </a:r>
          </a:p>
          <a:p>
            <a:pPr marL="0" indent="0">
              <a:buNone/>
              <a:spcBef>
                <a:spcPts val="1400"/>
              </a:spcBef>
            </a:pPr>
            <a:r>
              <a:rPr lang="en-US" sz="1100">
                <a:solidFill>
                  <a:srgbClr val="7F7F7F"/>
                </a:solidFill>
                <a:latin typeface="+mn-lt"/>
              </a:rPr>
              <a:t>Source: popular-languages.csv (web scraping lab)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4305" y="2011680"/>
            <a:ext cx="4572000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 sz="1800" b="1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11680"/>
            <a:ext cx="4572000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 sz="1800" b="1"/>
              <a:t>Next Year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C5862-9AB9-9679-23B5-A950E973AFB5}"/>
              </a:ext>
            </a:extLst>
          </p:cNvPr>
          <p:cNvSpPr txBox="1"/>
          <p:nvPr/>
        </p:nvSpPr>
        <p:spPr>
          <a:xfrm>
            <a:off x="924305" y="1475244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>
                <a:latin typeface="+mn-lt"/>
              </a:rPr>
              <a:t>JavaScript, SQL, HTML/CSS, TypeScript and Python lead both years. Go and Rust join the top 10 next year, replacing PHP and PowerShell.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77240" y="2560320"/>
          <a:ext cx="5120640" cy="3703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126480" y="2560320"/>
          <a:ext cx="5120640" cy="3703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0972800" cy="1330037"/>
          </a:xfrm>
        </p:spPr>
        <p:txBody>
          <a:bodyPr>
            <a:noAutofit/>
          </a:bodyPr>
          <a:lstStyle/>
          <a:p>
            <a:r>
              <a:rPr lang="en-US" dirty="0" sz="280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1">
                <a:latin typeface="+mn-lt"/>
              </a:rPr>
              <a:t>Findings</a:t>
            </a:r>
          </a:p>
          <a:p>
            <a:pPr marL="0" indent="0">
              <a:buNone/>
            </a:pPr>
            <a:endParaRPr sz="600"/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JavaScript is the most used language (79% of respondents) and stays #1 next year (61%)</a:t>
            </a:r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SQL, HTML/CSS, TypeScript and Python make up the rest of the top 5 in both years</a:t>
            </a:r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Go and Rust enter next year's top 10; Rust is wanted by 2.5x more developers than currently use it</a:t>
            </a:r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PHP and PowerShell drop out of next year's top 10, and Java falls from #8 to #10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1">
                <a:latin typeface="+mn-lt"/>
              </a:rPr>
              <a:t>Implications</a:t>
            </a:r>
          </a:p>
          <a:p>
            <a:pPr marL="0" indent="0">
              <a:buNone/>
            </a:pPr>
            <a:endParaRPr sz="600"/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JavaScript/TypeScript and SQL remain must-have skills for consultants and job seekers</a:t>
            </a:r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Steady demand for Python supports growing data, AI and automation work</a:t>
            </a:r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The firm should start training staff in Go and Rust to meet rising client demand</a:t>
            </a:r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Teams relying on PHP or legacy scripting face a shrinking talent pool and should plan modernisation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2011680"/>
            <a:ext cx="4572000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 sz="1800" b="1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11680"/>
            <a:ext cx="4572000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 sz="1800" b="1"/>
              <a:t>Next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A0CDF-0FE0-1DE3-5B09-44D4318623B8}"/>
              </a:ext>
            </a:extLst>
          </p:cNvPr>
          <p:cNvSpPr txBox="1"/>
          <p:nvPr/>
        </p:nvSpPr>
        <p:spPr>
          <a:xfrm>
            <a:off x="881252" y="1476527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>
                <a:latin typeface="+mn-lt"/>
              </a:rPr>
              <a:t>PostgreSQL leads both years by a wide margin. Redis rises from #6 to #2, while MySQL and Microsoft SQL Server lose ground.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2560320"/>
          <a:ext cx="5120640" cy="3703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26480" y="2560320"/>
          <a:ext cx="5120640" cy="3703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0972800" cy="975302"/>
          </a:xfrm>
        </p:spPr>
        <p:txBody>
          <a:bodyPr>
            <a:normAutofit fontScale="90000"/>
          </a:bodyPr>
          <a:lstStyle/>
          <a:p>
            <a:r>
              <a:rPr lang="en-US" dirty="0" sz="280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1">
                <a:latin typeface="+mn-lt"/>
              </a:rPr>
              <a:t>Findings</a:t>
            </a:r>
          </a:p>
          <a:p>
            <a:pPr marL="0" indent="0">
              <a:buNone/>
            </a:pPr>
            <a:endParaRPr sz="600"/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PostgreSQL is #1 in both years: 61% use it now and 65% want to use it next year</a:t>
            </a:r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Redis rises from #6 to #2 next year, and Supabase enters the top 10</a:t>
            </a:r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MySQL drops from #2 to #4, and Microsoft SQL Server from #5 to #6</a:t>
            </a:r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Oracle drops out of next year's top 10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1">
                <a:latin typeface="+mn-lt"/>
              </a:rPr>
              <a:t>Implications</a:t>
            </a:r>
          </a:p>
          <a:p>
            <a:pPr marL="0" indent="0">
              <a:buNone/>
            </a:pPr>
            <a:endParaRPr sz="600"/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PostgreSQL is the most valuable database skill to build or hire for</a:t>
            </a:r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In-memory caching (Redis) is becoming standard in modern application stacks</a:t>
            </a:r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Interest is shifting from proprietary databases (SQL Server, Oracle) to open-source options, lowering licence costs</a:t>
            </a:r>
          </a:p>
          <a:p>
            <a:pPr>
              <a:spcBef>
                <a:spcPts val="600"/>
              </a:spcBef>
            </a:pPr>
            <a:r>
              <a:rPr lang="en-US" sz="1300">
                <a:latin typeface="+mn-lt"/>
              </a:rPr>
              <a:t>The firm can offer PostgreSQL migration and cloud database services to clients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2011680"/>
            <a:ext cx="7068725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latin typeface="+mn-lt"/>
              </a:rPr>
              <a:t>IBM Cognos Analytics dashboard: three tabs, 12 visualisations</a:t>
            </a:r>
          </a:p>
          <a:p>
            <a:pPr>
              <a:spcBef>
                <a:spcPts val="600"/>
              </a:spcBef>
            </a:pPr>
            <a:r>
              <a:rPr lang="en-US" sz="1400" b="1">
                <a:latin typeface="+mn-lt"/>
              </a:rPr>
              <a:t>Current Technology Usage: </a:t>
            </a:r>
            <a:r>
              <a:rPr lang="en-US" sz="1400">
                <a:latin typeface="+mn-lt"/>
              </a:rPr>
              <a:t>web stacks (HTML/CSS, JavaScript, TypeScript), PostgreSQL and AWS dominate</a:t>
            </a:r>
          </a:p>
          <a:p>
            <a:pPr>
              <a:spcBef>
                <a:spcPts val="600"/>
              </a:spcBef>
            </a:pPr>
            <a:r>
              <a:rPr lang="en-US" sz="1400" b="1">
                <a:latin typeface="+mn-lt"/>
              </a:rPr>
              <a:t>Future Technology Trend: </a:t>
            </a:r>
            <a:r>
              <a:rPr lang="en-US" sz="1400">
                <a:latin typeface="+mn-lt"/>
              </a:rPr>
              <a:t>the same leaders stay on top; interest grows in PostgreSQL, FastAPI and Phoenix</a:t>
            </a:r>
          </a:p>
          <a:p>
            <a:pPr>
              <a:spcBef>
                <a:spcPts val="600"/>
              </a:spcBef>
            </a:pPr>
            <a:r>
              <a:rPr lang="en-US" sz="1400" b="1">
                <a:latin typeface="+mn-lt"/>
              </a:rPr>
              <a:t>Demographics: </a:t>
            </a:r>
            <a:r>
              <a:rPr lang="en-US" sz="1400">
                <a:latin typeface="+mn-lt"/>
              </a:rPr>
              <a:t>most respondents are 25 to 44, hold a bachelor's degree and live in the USA, Germany or India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0972800" cy="985693"/>
          </a:xfrm>
        </p:spPr>
        <p:txBody>
          <a:bodyPr anchor="ctr">
            <a:noAutofit/>
          </a:bodyPr>
          <a:lstStyle/>
          <a:p>
            <a:r>
              <a:rPr lang="en-US" dirty="0" sz="2800"/>
              <a:t>DASHBOARD TAB 1: Current Technology Usage</a:t>
            </a:r>
          </a:p>
        </p:txBody>
      </p:sp>
      <p:pic>
        <p:nvPicPr>
          <p:cNvPr id="3" name="Picture 2" descr="ta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7589520" cy="4361757"/>
          </a:xfrm>
          <a:prstGeom prst="rect">
            <a:avLst/>
          </a:prstGeom>
        </p:spPr>
      </p:pic>
      <p:sp>
        <p:nvSpPr>
          <p:cNvPr id="4" name="Insight"/>
          <p:cNvSpPr txBox="1"/>
          <p:nvPr/>
        </p:nvSpPr>
        <p:spPr>
          <a:xfrm>
            <a:off x="8412480" y="1600200"/>
            <a:ext cx="31546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E8792B"/>
                </a:solidFill>
                <a:latin typeface="+mn-lt"/>
              </a:rPr>
              <a:t>Dashboard insight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Front-end web stacks dominate: the top language combination is HTML/CSS + JavaScript + TypeScript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PostgreSQL is the most used single database (994 respondents use only PostgreSQL)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AWS is the leading cloud platform, followed by Microsoft Azure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Spring Boot, React and ASP.NET Core are the most common web framework answers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0972800" cy="1016866"/>
          </a:xfrm>
        </p:spPr>
        <p:txBody>
          <a:bodyPr anchor="ctr">
            <a:normAutofit fontScale="90000"/>
          </a:bodyPr>
          <a:lstStyle/>
          <a:p>
            <a:r>
              <a:rPr lang="en-US" dirty="0" sz="2800"/>
              <a:t>DASHBOARD TAB 2: Future Technology Trends</a:t>
            </a:r>
          </a:p>
        </p:txBody>
      </p:sp>
      <p:pic>
        <p:nvPicPr>
          <p:cNvPr id="3" name="Picture 2" descr="ta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7589520" cy="4361757"/>
          </a:xfrm>
          <a:prstGeom prst="rect">
            <a:avLst/>
          </a:prstGeom>
        </p:spPr>
      </p:pic>
      <p:sp>
        <p:nvSpPr>
          <p:cNvPr id="4" name="Insight"/>
          <p:cNvSpPr txBox="1"/>
          <p:nvPr/>
        </p:nvSpPr>
        <p:spPr>
          <a:xfrm>
            <a:off x="8412480" y="1600200"/>
            <a:ext cx="31546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E8792B"/>
                </a:solidFill>
                <a:latin typeface="+mn-lt"/>
              </a:rPr>
              <a:t>Dashboard insight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C#, HTML/CSS, JavaScript, SQL and TypeScript together is the most wanted language set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PostgreSQL interest grows: 1,265 respondents want only PostgreSQL next year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AWS and Azure remain the most wanted platforms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Spring Boot, React and ASP.NET Core stay top; FastAPI and Phoenix gain interest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2800" cy="1325563"/>
          </a:xfrm>
        </p:spPr>
        <p:txBody>
          <a:bodyPr anchor="ctr">
            <a:normAutofit/>
          </a:bodyPr>
          <a:lstStyle/>
          <a:p>
            <a:r>
              <a:rPr lang="en-US" dirty="0" sz="2800"/>
              <a:t>DASHBOARD TAB 3: Demographics</a:t>
            </a:r>
          </a:p>
        </p:txBody>
      </p:sp>
      <p:pic>
        <p:nvPicPr>
          <p:cNvPr id="3" name="Picture 2" descr="ta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7589520" cy="4361757"/>
          </a:xfrm>
          <a:prstGeom prst="rect">
            <a:avLst/>
          </a:prstGeom>
        </p:spPr>
      </p:pic>
      <p:sp>
        <p:nvSpPr>
          <p:cNvPr id="4" name="Insight"/>
          <p:cNvSpPr txBox="1"/>
          <p:nvPr/>
        </p:nvSpPr>
        <p:spPr>
          <a:xfrm>
            <a:off x="8412480" y="1600200"/>
            <a:ext cx="31546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E8792B"/>
                </a:solidFill>
                <a:latin typeface="+mn-lt"/>
              </a:rPr>
              <a:t>Dashboard insight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Ages 25 to 34 make up 41% of respondents; 35 to 44 add another 27%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The USA (3,441), Germany (1,339) and India (1,316) have the most respondents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A bachelor's degree is the most common education (8,629), then a master's (5,000)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Bachelor's holders are the largest group in every main age band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282" y="2348628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1155" y="1825625"/>
            <a:ext cx="6272645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600" b="1">
                <a:latin typeface="+mn-lt"/>
              </a:rPr>
              <a:t>Overall insights from the dashboard</a:t>
            </a:r>
          </a:p>
          <a:p>
            <a:pPr>
              <a:spcBef>
                <a:spcPts val="600"/>
              </a:spcBef>
            </a:pPr>
            <a:r>
              <a:rPr lang="en-US" sz="1400">
                <a:latin typeface="+mn-lt"/>
              </a:rPr>
              <a:t>The developer community is young and highly educated: most are 25 to 44 with a degree</a:t>
            </a:r>
          </a:p>
          <a:p>
            <a:pPr>
              <a:spcBef>
                <a:spcPts val="600"/>
              </a:spcBef>
            </a:pPr>
            <a:r>
              <a:rPr lang="en-US" sz="1400">
                <a:latin typeface="+mn-lt"/>
              </a:rPr>
              <a:t>Today's stack centres on JavaScript, SQL, PostgreSQL and AWS, and the same tools lead next year</a:t>
            </a:r>
          </a:p>
          <a:p>
            <a:pPr>
              <a:spcBef>
                <a:spcPts val="600"/>
              </a:spcBef>
            </a:pPr>
            <a:r>
              <a:rPr lang="en-US" sz="1400">
                <a:latin typeface="+mn-lt"/>
              </a:rPr>
              <a:t>Interest is shifting toward newer, performance-focused tools such as Rust, Go, FastAPI and Redis</a:t>
            </a:r>
          </a:p>
          <a:p>
            <a:pPr>
              <a:spcBef>
                <a:spcPts val="600"/>
              </a:spcBef>
            </a:pPr>
            <a:r>
              <a:rPr lang="en-US" sz="1400">
                <a:latin typeface="+mn-lt"/>
              </a:rPr>
              <a:t>Many developers combine several technologies, so multi-skill profiles are the norm</a:t>
            </a:r>
          </a:p>
          <a:p>
            <a:pPr>
              <a:spcBef>
                <a:spcPts val="600"/>
              </a:spcBef>
            </a:pPr>
            <a:r>
              <a:rPr lang="en-US" sz="1400">
                <a:latin typeface="+mn-lt"/>
              </a:rPr>
              <a:t>Limitation: the data is a subset of the full survey, so results may not fully reflect the global developer community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>
                <a:latin typeface="+mn-lt"/>
              </a:rPr>
              <a:t>Findings</a:t>
            </a:r>
          </a:p>
          <a:p>
            <a:pPr marL="0" indent="0">
              <a:buNone/>
            </a:pPr>
            <a:endParaRPr sz="800"/>
          </a:p>
          <a:p>
            <a:pPr>
              <a:spcBef>
                <a:spcPts val="600"/>
              </a:spcBef>
            </a:pPr>
            <a:r>
              <a:rPr lang="en-US" sz="1400">
                <a:latin typeface="+mn-lt"/>
              </a:rPr>
              <a:t>JavaScript, SQL and PostgreSQL are the core skills both now and next year</a:t>
            </a:r>
          </a:p>
          <a:p>
            <a:pPr>
              <a:spcBef>
                <a:spcPts val="600"/>
              </a:spcBef>
            </a:pPr>
            <a:r>
              <a:rPr lang="en-US" sz="1400">
                <a:latin typeface="+mn-lt"/>
              </a:rPr>
              <a:t>Rust, Go, Redis and Supabase show the strongest growth in interest</a:t>
            </a:r>
          </a:p>
          <a:p>
            <a:pPr>
              <a:spcBef>
                <a:spcPts val="600"/>
              </a:spcBef>
            </a:pPr>
            <a:r>
              <a:rPr lang="en-US" sz="1400">
                <a:latin typeface="+mn-lt"/>
              </a:rPr>
              <a:t>AWS leads cloud adoption; most respondents are aged 25 to 44 with a degree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>
                <a:latin typeface="+mn-lt"/>
              </a:rPr>
              <a:t>Implications</a:t>
            </a:r>
          </a:p>
          <a:p>
            <a:pPr marL="0" indent="0">
              <a:buNone/>
            </a:pPr>
            <a:endParaRPr sz="800"/>
          </a:p>
          <a:p>
            <a:pPr>
              <a:spcBef>
                <a:spcPts val="600"/>
              </a:spcBef>
            </a:pPr>
            <a:r>
              <a:rPr lang="en-US" sz="1400">
                <a:latin typeface="+mn-lt"/>
              </a:rPr>
              <a:t>Industry: open-source tools (PostgreSQL, Redis) and cloud platforms (AWS) are becoming the default enterprise stack</a:t>
            </a:r>
          </a:p>
          <a:p>
            <a:pPr>
              <a:spcBef>
                <a:spcPts val="600"/>
              </a:spcBef>
            </a:pPr>
            <a:r>
              <a:rPr lang="en-US" sz="1400">
                <a:latin typeface="+mn-lt"/>
              </a:rPr>
              <a:t>Hiring: demand for Rust and Go may outpace supply, raising competition and pay for these skills</a:t>
            </a:r>
          </a:p>
          <a:p>
            <a:pPr>
              <a:spcBef>
                <a:spcPts val="600"/>
              </a:spcBef>
            </a:pPr>
            <a:r>
              <a:rPr lang="en-US" sz="1400">
                <a:latin typeface="+mn-lt"/>
              </a:rPr>
              <a:t>Training: universities, bootcamps and employers should update curricula toward cloud, PostgreSQL and modern languages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800"/>
              </a:spcBef>
            </a:pPr>
            <a:r>
              <a:rPr lang="en-US" sz="1600">
                <a:latin typeface="+mn-lt"/>
              </a:rPr>
              <a:t>Web and data skills (JavaScript, TypeScript, SQL, Python) are the foundation of today's developer job market</a:t>
            </a:r>
          </a:p>
          <a:p>
            <a:pPr>
              <a:spcBef>
                <a:spcPts val="800"/>
              </a:spcBef>
            </a:pPr>
            <a:r>
              <a:rPr lang="en-US" sz="1600">
                <a:latin typeface="+mn-lt"/>
              </a:rPr>
              <a:t>PostgreSQL and AWS are the leading database and cloud platform, now and next year</a:t>
            </a:r>
          </a:p>
          <a:p>
            <a:pPr>
              <a:spcBef>
                <a:spcPts val="800"/>
              </a:spcBef>
            </a:pPr>
            <a:r>
              <a:rPr lang="en-US" sz="1600">
                <a:latin typeface="+mn-lt"/>
              </a:rPr>
              <a:t>Rust, Go and Redis are the technologies to watch, with interest growing faster than current use</a:t>
            </a:r>
          </a:p>
          <a:p>
            <a:pPr>
              <a:spcBef>
                <a:spcPts val="800"/>
              </a:spcBef>
            </a:pPr>
            <a:r>
              <a:rPr lang="en-US" sz="1600">
                <a:latin typeface="+mn-lt"/>
              </a:rPr>
              <a:t>An interactive Cognos dashboard lets stakeholders explore technology usage, trends and demographics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APPENDIX: CLOUD PLATFORMS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1600200"/>
          <a:ext cx="7315200" cy="4572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Insight"/>
          <p:cNvSpPr txBox="1"/>
          <p:nvPr/>
        </p:nvSpPr>
        <p:spPr>
          <a:xfrm>
            <a:off x="8321040" y="1920240"/>
            <a:ext cx="32004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E8792B"/>
                </a:solidFill>
                <a:latin typeface="+mn-lt"/>
              </a:rPr>
              <a:t>Notes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AWS leads both years (58% used, 56% wanted)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Cloudflare and Hetzner gain interest; Heroku drops out of the next-year top 10</a:t>
            </a:r>
          </a:p>
          <a:p>
            <a:pPr marL="0" indent="0">
              <a:buNone/>
              <a:spcBef>
                <a:spcPts val="1400"/>
              </a:spcBef>
            </a:pPr>
            <a:r>
              <a:rPr lang="en-US" sz="1100">
                <a:solidFill>
                  <a:srgbClr val="7F7F7F"/>
                </a:solidFill>
                <a:latin typeface="+mn-lt"/>
              </a:rPr>
              <a:t>0% = outside that year's top 10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APPENDIX: WEB FRAMEWORKS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1600200"/>
          <a:ext cx="7315200" cy="4572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Insight"/>
          <p:cNvSpPr txBox="1"/>
          <p:nvPr/>
        </p:nvSpPr>
        <p:spPr>
          <a:xfrm>
            <a:off x="8321040" y="1920240"/>
            <a:ext cx="32004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E8792B"/>
                </a:solidFill>
                <a:latin typeface="+mn-lt"/>
              </a:rPr>
              <a:t>Notes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Node.js and React lead both years (about 43 to 49%)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Next.js and Vue.js gain interest; jQuery and Express decline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FastAPI enters the next-year top 10</a:t>
            </a:r>
          </a:p>
          <a:p>
            <a:pPr marL="0" indent="0">
              <a:buNone/>
              <a:spcBef>
                <a:spcPts val="1400"/>
              </a:spcBef>
            </a:pPr>
            <a:r>
              <a:rPr lang="en-US" sz="1100">
                <a:solidFill>
                  <a:srgbClr val="7F7F7F"/>
                </a:solidFill>
                <a:latin typeface="+mn-lt"/>
              </a:rPr>
              <a:t>0% = outside that year's top 10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APPENDIX: MOST POPULAR IDEs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1600200"/>
          <a:ext cx="7315200" cy="4572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Insight"/>
          <p:cNvSpPr txBox="1"/>
          <p:nvPr/>
        </p:nvSpPr>
        <p:spPr>
          <a:xfrm>
            <a:off x="8321040" y="1920240"/>
            <a:ext cx="32004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E8792B"/>
                </a:solidFill>
                <a:latin typeface="+mn-lt"/>
              </a:rPr>
              <a:t>Notes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Visual Studio Code dominates: 80% use it and 72% want to keep using it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IntelliJ IDEA overtakes Visual Studio for next year</a:t>
            </a:r>
          </a:p>
          <a:p>
            <a:pPr>
              <a:spcBef>
                <a:spcPts val="800"/>
              </a:spcBef>
            </a:pPr>
            <a:r>
              <a:rPr lang="en-US" sz="1300">
                <a:latin typeface="+mn-lt"/>
              </a:rPr>
              <a:t>Neovim gains interest; WebStorm enters the next-year top 10</a:t>
            </a:r>
          </a:p>
          <a:p>
            <a:pPr marL="0" indent="0">
              <a:buNone/>
              <a:spcBef>
                <a:spcPts val="1400"/>
              </a:spcBef>
            </a:pPr>
            <a:r>
              <a:rPr lang="en-US" sz="1100">
                <a:solidFill>
                  <a:srgbClr val="7F7F7F"/>
                </a:solidFill>
                <a:latin typeface="+mn-lt"/>
              </a:rPr>
              <a:t>0% = outside that year's top 10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432</Words>
  <Application>Microsoft Office PowerPoint</Application>
  <PresentationFormat>Widescreen</PresentationFormat>
  <Paragraphs>117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Title</vt:lpstr>
      <vt:lpstr>PowerPoint Presentation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pratiksha verma</cp:lastModifiedBy>
  <cp:revision>5</cp:revision>
  <dcterms:created xsi:type="dcterms:W3CDTF">2024-10-30T05:40:03Z</dcterms:created>
  <dcterms:modified xsi:type="dcterms:W3CDTF">2026-01-15T06:53:23Z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